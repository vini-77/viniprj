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_circle_1"/>
          <p:cNvSpPr/>
          <p:nvPr/>
        </p:nvSpPr>
        <p:spPr>
          <a:xfrm>
            <a:off x="8778240" y="1280160"/>
            <a:ext cx="2926080" cy="2926080"/>
          </a:xfrm>
          <a:prstGeom prst="ellipse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_circle_2"/>
          <p:cNvSpPr/>
          <p:nvPr/>
        </p:nvSpPr>
        <p:spPr>
          <a:xfrm>
            <a:off x="10058400" y="2651760"/>
            <a:ext cx="2011680" cy="2011680"/>
          </a:xfrm>
          <a:prstGeom prst="ellipse">
            <a:avLst/>
          </a:prstGeom>
          <a:solidFill>
            <a:srgbClr val="00A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over_circle_3"/>
          <p:cNvSpPr/>
          <p:nvPr/>
        </p:nvSpPr>
        <p:spPr>
          <a:xfrm>
            <a:off x="9326880" y="4023360"/>
            <a:ext cx="1097280" cy="1097280"/>
          </a:xfrm>
          <a:prstGeom prst="ellipse">
            <a:avLst/>
          </a:prstGeom>
          <a:solidFill>
            <a:srgbClr val="08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548640" y="2011680"/>
            <a:ext cx="7680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082B5C"/>
                </a:solidFill>
                <a:latin typeface="Arial"/>
              </a:rPr>
              <a:t>PowerPoint・Web図解 双方向変換デモ</a:t>
            </a:r>
          </a:p>
        </p:txBody>
      </p:sp>
      <p:sp>
        <p:nvSpPr>
          <p:cNvPr id="6" name="subtitle"/>
          <p:cNvSpPr txBox="1"/>
          <p:nvPr/>
        </p:nvSpPr>
        <p:spPr>
          <a:xfrm>
            <a:off x="548640" y="3749039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1261A0"/>
                </a:solidFill>
                <a:latin typeface="Arial"/>
              </a:rPr>
              <a:t>匿名化サンプル資料</a:t>
            </a:r>
          </a:p>
        </p:txBody>
      </p:sp>
      <p:sp>
        <p:nvSpPr>
          <p:cNvPr id="7" name="description"/>
          <p:cNvSpPr txBox="1"/>
          <p:nvPr/>
        </p:nvSpPr>
        <p:spPr>
          <a:xfrm>
            <a:off x="548640" y="438912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43447"/>
                </a:solidFill>
                <a:latin typeface="Arial"/>
              </a:rPr>
              <a:t>変換アプリの受入試験に使う模擬資料です。すべての内容・数値は架空（サンプル）です。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9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目的と対象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body"/>
          <p:cNvSpPr txBox="1"/>
          <p:nvPr/>
        </p:nvSpPr>
        <p:spPr>
          <a:xfrm>
            <a:off x="548640" y="14630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一度作った資料を説明用・閲覧用・再利用用へ展開する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スライドと Web 図解の両方を同じ構造から生成する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非エンジニアがブラウザ操作だけで変換できるようにする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未対応要素は警告と代替処理で扱い、停止させない</a:t>
            </a:r>
          </a:p>
        </p:txBody>
      </p:sp>
      <p:sp>
        <p:nvSpPr>
          <p:cNvPr id="5" name="card_1"/>
          <p:cNvSpPr/>
          <p:nvPr/>
        </p:nvSpPr>
        <p:spPr>
          <a:xfrm>
            <a:off x="6309360" y="1371600"/>
            <a:ext cx="5303520" cy="128016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ard_1_title"/>
          <p:cNvSpPr txBox="1"/>
          <p:nvPr/>
        </p:nvSpPr>
        <p:spPr>
          <a:xfrm>
            <a:off x="6492240" y="155448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説明用</a:t>
            </a:r>
          </a:p>
        </p:txBody>
      </p:sp>
      <p:sp>
        <p:nvSpPr>
          <p:cNvPr id="7" name="card_1_body"/>
          <p:cNvSpPr txBox="1"/>
          <p:nvPr/>
        </p:nvSpPr>
        <p:spPr>
          <a:xfrm>
            <a:off x="6492240" y="205740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会議での投影・配布に使う 16:9 のスライド</a:t>
            </a:r>
          </a:p>
        </p:txBody>
      </p:sp>
      <p:sp>
        <p:nvSpPr>
          <p:cNvPr id="8" name="card_2"/>
          <p:cNvSpPr/>
          <p:nvPr/>
        </p:nvSpPr>
        <p:spPr>
          <a:xfrm>
            <a:off x="6309360" y="2834640"/>
            <a:ext cx="5303520" cy="128016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_2_title"/>
          <p:cNvSpPr txBox="1"/>
          <p:nvPr/>
        </p:nvSpPr>
        <p:spPr>
          <a:xfrm>
            <a:off x="6492240" y="301752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閲覧用</a:t>
            </a:r>
          </a:p>
        </p:txBody>
      </p:sp>
      <p:sp>
        <p:nvSpPr>
          <p:cNvPr id="10" name="card_2_body"/>
          <p:cNvSpPr txBox="1"/>
          <p:nvPr/>
        </p:nvSpPr>
        <p:spPr>
          <a:xfrm>
            <a:off x="6492240" y="3520440"/>
            <a:ext cx="493775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ブラウザで読む図解。端末幅に応じて並べ替える</a:t>
            </a:r>
          </a:p>
        </p:txBody>
      </p:sp>
      <p:sp>
        <p:nvSpPr>
          <p:cNvPr id="11" name="card_3"/>
          <p:cNvSpPr/>
          <p:nvPr/>
        </p:nvSpPr>
        <p:spPr>
          <a:xfrm>
            <a:off x="6309360" y="4297680"/>
            <a:ext cx="5303520" cy="128016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ard_3_title"/>
          <p:cNvSpPr txBox="1"/>
          <p:nvPr/>
        </p:nvSpPr>
        <p:spPr>
          <a:xfrm>
            <a:off x="6492240" y="4480560"/>
            <a:ext cx="493775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再利用用</a:t>
            </a:r>
          </a:p>
        </p:txBody>
      </p:sp>
      <p:sp>
        <p:nvSpPr>
          <p:cNvPr id="13" name="card_3_body"/>
          <p:cNvSpPr txBox="1"/>
          <p:nvPr/>
        </p:nvSpPr>
        <p:spPr>
          <a:xfrm>
            <a:off x="6492240" y="4983480"/>
            <a:ext cx="4937759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共通 JSON から別テンプレートへ再展開する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5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現状課題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1"/>
          <p:cNvSpPr/>
          <p:nvPr/>
        </p:nvSpPr>
        <p:spPr>
          <a:xfrm>
            <a:off x="548640" y="1463040"/>
            <a:ext cx="3474720" cy="384048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ard_1_icon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rgbClr val="00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rd_1_title"/>
          <p:cNvSpPr txBox="1"/>
          <p:nvPr/>
        </p:nvSpPr>
        <p:spPr>
          <a:xfrm>
            <a:off x="731520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二重作業</a:t>
            </a:r>
          </a:p>
        </p:txBody>
      </p:sp>
      <p:sp>
        <p:nvSpPr>
          <p:cNvPr id="7" name="card_1_body"/>
          <p:cNvSpPr txBox="1"/>
          <p:nvPr/>
        </p:nvSpPr>
        <p:spPr>
          <a:xfrm>
            <a:off x="731520" y="2788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同じ内容を二つの形式で作り直す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作成時間が倍になる（例示）</a:t>
            </a:r>
          </a:p>
        </p:txBody>
      </p:sp>
      <p:sp>
        <p:nvSpPr>
          <p:cNvPr id="8" name="card_2"/>
          <p:cNvSpPr/>
          <p:nvPr/>
        </p:nvSpPr>
        <p:spPr>
          <a:xfrm>
            <a:off x="4297679" y="1463040"/>
            <a:ext cx="3474720" cy="384048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ard_2_icon"/>
          <p:cNvSpPr/>
          <p:nvPr/>
        </p:nvSpPr>
        <p:spPr>
          <a:xfrm>
            <a:off x="4526279" y="1645920"/>
            <a:ext cx="457200" cy="457200"/>
          </a:xfrm>
          <a:prstGeom prst="triangle">
            <a:avLst/>
          </a:prstGeom>
          <a:solidFill>
            <a:srgbClr val="00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ard_2_title"/>
          <p:cNvSpPr txBox="1"/>
          <p:nvPr/>
        </p:nvSpPr>
        <p:spPr>
          <a:xfrm>
            <a:off x="448055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更新ずれ</a:t>
            </a:r>
          </a:p>
        </p:txBody>
      </p:sp>
      <p:sp>
        <p:nvSpPr>
          <p:cNvPr id="11" name="card_2_body"/>
          <p:cNvSpPr txBox="1"/>
          <p:nvPr/>
        </p:nvSpPr>
        <p:spPr>
          <a:xfrm>
            <a:off x="4480559" y="2788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修正が片方にしか反映されない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どちらが最新か分からない</a:t>
            </a:r>
          </a:p>
        </p:txBody>
      </p:sp>
      <p:sp>
        <p:nvSpPr>
          <p:cNvPr id="12" name="card_3"/>
          <p:cNvSpPr/>
          <p:nvPr/>
        </p:nvSpPr>
        <p:spPr>
          <a:xfrm>
            <a:off x="8046719" y="1463040"/>
            <a:ext cx="3474720" cy="384048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ard_3_icon"/>
          <p:cNvSpPr/>
          <p:nvPr/>
        </p:nvSpPr>
        <p:spPr>
          <a:xfrm>
            <a:off x="8275319" y="1645920"/>
            <a:ext cx="457200" cy="457200"/>
          </a:xfrm>
          <a:prstGeom prst="diamond">
            <a:avLst/>
          </a:prstGeom>
          <a:solidFill>
            <a:srgbClr val="00A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ard_3_title"/>
          <p:cNvSpPr txBox="1"/>
          <p:nvPr/>
        </p:nvSpPr>
        <p:spPr>
          <a:xfrm>
            <a:off x="8229599" y="228600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属人化</a:t>
            </a:r>
          </a:p>
        </p:txBody>
      </p:sp>
      <p:sp>
        <p:nvSpPr>
          <p:cNvPr id="15" name="card_3_body"/>
          <p:cNvSpPr txBox="1"/>
          <p:nvPr/>
        </p:nvSpPr>
        <p:spPr>
          <a:xfrm>
            <a:off x="8229599" y="2788920"/>
            <a:ext cx="31089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変換手順が担当者の手作業に依存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引き継ぎ資料が残らない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7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変換フロー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tep_1"/>
          <p:cNvSpPr/>
          <p:nvPr/>
        </p:nvSpPr>
        <p:spPr>
          <a:xfrm>
            <a:off x="609447" y="2743200"/>
            <a:ext cx="1600200" cy="10972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PPTX入力</a:t>
            </a:r>
          </a:p>
        </p:txBody>
      </p:sp>
      <p:cxnSp>
        <p:nvCxnSpPr>
          <p:cNvPr id="5" name="arrow_1"/>
          <p:cNvCxnSpPr/>
          <p:nvPr/>
        </p:nvCxnSpPr>
        <p:spPr>
          <a:xfrm>
            <a:off x="2209647" y="3291840"/>
            <a:ext cx="274320" cy="0"/>
          </a:xfrm>
          <a:prstGeom prst="line">
            <a:avLst/>
          </a:prstGeom>
          <a:ln w="31750">
            <a:solidFill>
              <a:srgbClr val="082B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tep_2"/>
          <p:cNvSpPr/>
          <p:nvPr/>
        </p:nvSpPr>
        <p:spPr>
          <a:xfrm>
            <a:off x="2483967" y="2743200"/>
            <a:ext cx="1600200" cy="10972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抽出</a:t>
            </a:r>
          </a:p>
        </p:txBody>
      </p:sp>
      <p:cxnSp>
        <p:nvCxnSpPr>
          <p:cNvPr id="7" name="arrow_2"/>
          <p:cNvCxnSpPr/>
          <p:nvPr/>
        </p:nvCxnSpPr>
        <p:spPr>
          <a:xfrm>
            <a:off x="4084167" y="3291840"/>
            <a:ext cx="274320" cy="0"/>
          </a:xfrm>
          <a:prstGeom prst="line">
            <a:avLst/>
          </a:prstGeom>
          <a:ln w="31750">
            <a:solidFill>
              <a:srgbClr val="082B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step_3"/>
          <p:cNvSpPr/>
          <p:nvPr/>
        </p:nvSpPr>
        <p:spPr>
          <a:xfrm>
            <a:off x="4358487" y="2743200"/>
            <a:ext cx="1600200" cy="1097280"/>
          </a:xfrm>
          <a:prstGeom prst="roundRect">
            <a:avLst/>
          </a:prstGeom>
          <a:solidFill>
            <a:srgbClr val="00A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Presentation JSON</a:t>
            </a:r>
          </a:p>
        </p:txBody>
      </p:sp>
      <p:cxnSp>
        <p:nvCxnSpPr>
          <p:cNvPr id="9" name="arrow_3"/>
          <p:cNvCxnSpPr/>
          <p:nvPr/>
        </p:nvCxnSpPr>
        <p:spPr>
          <a:xfrm>
            <a:off x="5958687" y="3291840"/>
            <a:ext cx="274320" cy="0"/>
          </a:xfrm>
          <a:prstGeom prst="line">
            <a:avLst/>
          </a:prstGeom>
          <a:ln w="31750">
            <a:solidFill>
              <a:srgbClr val="082B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tep_4"/>
          <p:cNvSpPr/>
          <p:nvPr/>
        </p:nvSpPr>
        <p:spPr>
          <a:xfrm>
            <a:off x="6233007" y="2743200"/>
            <a:ext cx="1600200" cy="10972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AI再構成</a:t>
            </a:r>
          </a:p>
        </p:txBody>
      </p:sp>
      <p:cxnSp>
        <p:nvCxnSpPr>
          <p:cNvPr id="11" name="arrow_4"/>
          <p:cNvCxnSpPr/>
          <p:nvPr/>
        </p:nvCxnSpPr>
        <p:spPr>
          <a:xfrm>
            <a:off x="7833207" y="3291840"/>
            <a:ext cx="274320" cy="0"/>
          </a:xfrm>
          <a:prstGeom prst="line">
            <a:avLst/>
          </a:prstGeom>
          <a:ln w="31750">
            <a:solidFill>
              <a:srgbClr val="082B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tep_5"/>
          <p:cNvSpPr/>
          <p:nvPr/>
        </p:nvSpPr>
        <p:spPr>
          <a:xfrm>
            <a:off x="8107527" y="2743200"/>
            <a:ext cx="1600200" cy="10972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Web描画</a:t>
            </a:r>
          </a:p>
        </p:txBody>
      </p:sp>
      <p:cxnSp>
        <p:nvCxnSpPr>
          <p:cNvPr id="13" name="arrow_5"/>
          <p:cNvCxnSpPr/>
          <p:nvPr/>
        </p:nvCxnSpPr>
        <p:spPr>
          <a:xfrm>
            <a:off x="9707727" y="3291840"/>
            <a:ext cx="274320" cy="0"/>
          </a:xfrm>
          <a:prstGeom prst="line">
            <a:avLst/>
          </a:prstGeom>
          <a:ln w="31750">
            <a:solidFill>
              <a:srgbClr val="082B5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step_6"/>
          <p:cNvSpPr/>
          <p:nvPr/>
        </p:nvSpPr>
        <p:spPr>
          <a:xfrm>
            <a:off x="9982047" y="2743200"/>
            <a:ext cx="1600200" cy="10972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検証</a:t>
            </a:r>
          </a:p>
        </p:txBody>
      </p:sp>
      <p:sp>
        <p:nvSpPr>
          <p:cNvPr id="15" name="note"/>
          <p:cNvSpPr txBox="1"/>
          <p:nvPr/>
        </p:nvSpPr>
        <p:spPr>
          <a:xfrm>
            <a:off x="548640" y="420624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B6B7C"/>
                </a:solidFill>
                <a:latin typeface="Arial"/>
              </a:rPr>
              <a:t>AI は構造の分類と候補提示のみを担当し、座標計算とファイル生成は決定的な処理で行う（例示）。</a:t>
            </a:r>
          </a:p>
        </p:txBody>
      </p:sp>
      <p:sp>
        <p:nvSpPr>
          <p:cNvPr id="16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7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Before / After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panel_before"/>
          <p:cNvSpPr/>
          <p:nvPr/>
        </p:nvSpPr>
        <p:spPr>
          <a:xfrm>
            <a:off x="548640" y="1463040"/>
            <a:ext cx="4754880" cy="4023360"/>
          </a:xfrm>
          <a:prstGeom prst="rect">
            <a:avLst/>
          </a:prstGeom>
          <a:solidFill>
            <a:srgbClr val="FDEB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heading_before"/>
          <p:cNvSpPr txBox="1"/>
          <p:nvPr/>
        </p:nvSpPr>
        <p:spPr>
          <a:xfrm>
            <a:off x="822959" y="1645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F39C3D"/>
                </a:solidFill>
                <a:latin typeface="Arial"/>
              </a:rPr>
              <a:t>Before</a:t>
            </a:r>
          </a:p>
        </p:txBody>
      </p:sp>
      <p:sp>
        <p:nvSpPr>
          <p:cNvPr id="6" name="bullets_before"/>
          <p:cNvSpPr txBox="1"/>
          <p:nvPr/>
        </p:nvSpPr>
        <p:spPr>
          <a:xfrm>
            <a:off x="822959" y="228600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資料ごとに手作業で作り直す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修正漏れが月に数件（例示）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Web 公開まで数日（例示）</a:t>
            </a:r>
          </a:p>
        </p:txBody>
      </p:sp>
      <p:sp>
        <p:nvSpPr>
          <p:cNvPr id="7" name="panel_after"/>
          <p:cNvSpPr/>
          <p:nvPr/>
        </p:nvSpPr>
        <p:spPr>
          <a:xfrm>
            <a:off x="6858000" y="1463040"/>
            <a:ext cx="4754880" cy="4023360"/>
          </a:xfrm>
          <a:prstGeom prst="rect">
            <a:avLst/>
          </a:prstGeom>
          <a:solidFill>
            <a:srgbClr val="DFF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eading_after"/>
          <p:cNvSpPr txBox="1"/>
          <p:nvPr/>
        </p:nvSpPr>
        <p:spPr>
          <a:xfrm>
            <a:off x="7132320" y="164592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7845B"/>
                </a:solidFill>
                <a:latin typeface="Arial"/>
              </a:rPr>
              <a:t>After</a:t>
            </a:r>
          </a:p>
        </p:txBody>
      </p:sp>
      <p:sp>
        <p:nvSpPr>
          <p:cNvPr id="9" name="bullets_after"/>
          <p:cNvSpPr txBox="1"/>
          <p:nvPr/>
        </p:nvSpPr>
        <p:spPr>
          <a:xfrm>
            <a:off x="7132320" y="2286000"/>
            <a:ext cx="42062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共通 JSON から両形式を生成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修正は 1 か所で反映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公開までの日数を短縮（例示）</a:t>
            </a:r>
          </a:p>
        </p:txBody>
      </p:sp>
      <p:sp>
        <p:nvSpPr>
          <p:cNvPr id="10" name="big_arrow"/>
          <p:cNvSpPr/>
          <p:nvPr/>
        </p:nvSpPr>
        <p:spPr>
          <a:xfrm>
            <a:off x="5532120" y="3017520"/>
            <a:ext cx="1097280" cy="914400"/>
          </a:xfrm>
          <a:prstGeom prst="rightArrow">
            <a:avLst/>
          </a:prstGeom>
          <a:solidFill>
            <a:srgbClr val="082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2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数値カード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kpi_card_1"/>
          <p:cNvSpPr/>
          <p:nvPr/>
        </p:nvSpPr>
        <p:spPr>
          <a:xfrm>
            <a:off x="548640" y="1645920"/>
            <a:ext cx="3474720" cy="274320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kpi_value_1"/>
          <p:cNvSpPr txBox="1"/>
          <p:nvPr/>
        </p:nvSpPr>
        <p:spPr>
          <a:xfrm>
            <a:off x="731520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82B5C"/>
                </a:solidFill>
                <a:latin typeface="Arial"/>
              </a:rPr>
              <a:t>12ページ（仮）</a:t>
            </a:r>
          </a:p>
        </p:txBody>
      </p:sp>
      <p:sp>
        <p:nvSpPr>
          <p:cNvPr id="6" name="kpi_label_1"/>
          <p:cNvSpPr txBox="1"/>
          <p:nvPr/>
        </p:nvSpPr>
        <p:spPr>
          <a:xfrm>
            <a:off x="731520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6B7C"/>
                </a:solidFill>
                <a:latin typeface="Arial"/>
              </a:rPr>
              <a:t>模擬資料の枚数</a:t>
            </a:r>
          </a:p>
        </p:txBody>
      </p:sp>
      <p:sp>
        <p:nvSpPr>
          <p:cNvPr id="7" name="kpi_card_2"/>
          <p:cNvSpPr/>
          <p:nvPr/>
        </p:nvSpPr>
        <p:spPr>
          <a:xfrm>
            <a:off x="4297679" y="1645920"/>
            <a:ext cx="3474720" cy="274320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pi_value_2"/>
          <p:cNvSpPr txBox="1"/>
          <p:nvPr/>
        </p:nvSpPr>
        <p:spPr>
          <a:xfrm>
            <a:off x="4480559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082B5C"/>
                </a:solidFill>
                <a:latin typeface="Arial"/>
              </a:rPr>
              <a:t>3形式（仮）</a:t>
            </a:r>
          </a:p>
        </p:txBody>
      </p:sp>
      <p:sp>
        <p:nvSpPr>
          <p:cNvPr id="9" name="kpi_label_2"/>
          <p:cNvSpPr txBox="1"/>
          <p:nvPr/>
        </p:nvSpPr>
        <p:spPr>
          <a:xfrm>
            <a:off x="4480559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6B7C"/>
                </a:solidFill>
                <a:latin typeface="Arial"/>
              </a:rPr>
              <a:t>PPTX / JSON / Web</a:t>
            </a:r>
          </a:p>
        </p:txBody>
      </p:sp>
      <p:sp>
        <p:nvSpPr>
          <p:cNvPr id="10" name="kpi_card_3"/>
          <p:cNvSpPr/>
          <p:nvPr/>
        </p:nvSpPr>
        <p:spPr>
          <a:xfrm>
            <a:off x="8046719" y="1645920"/>
            <a:ext cx="3474720" cy="274320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kpi_value_3"/>
          <p:cNvSpPr txBox="1"/>
          <p:nvPr/>
        </p:nvSpPr>
        <p:spPr>
          <a:xfrm>
            <a:off x="8229599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>
                <a:solidFill>
                  <a:srgbClr val="082B5C"/>
                </a:solidFill>
                <a:latin typeface="Arial"/>
              </a:rPr>
              <a:t>100%架空データ</a:t>
            </a:r>
          </a:p>
        </p:txBody>
      </p:sp>
      <p:sp>
        <p:nvSpPr>
          <p:cNvPr id="12" name="kpi_label_3"/>
          <p:cNvSpPr txBox="1"/>
          <p:nvPr/>
        </p:nvSpPr>
        <p:spPr>
          <a:xfrm>
            <a:off x="8229599" y="338328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5B6B7C"/>
                </a:solidFill>
                <a:latin typeface="Arial"/>
              </a:rPr>
              <a:t>実在情報を含まない</a:t>
            </a:r>
          </a:p>
        </p:txBody>
      </p:sp>
      <p:sp>
        <p:nvSpPr>
          <p:cNvPr id="13" name="note"/>
          <p:cNvSpPr txBox="1"/>
          <p:nvPr/>
        </p:nvSpPr>
        <p:spPr>
          <a:xfrm>
            <a:off x="548640" y="4754880"/>
            <a:ext cx="110944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Arial"/>
              </a:rPr>
              <a:t>効果数値ではなく変換試験用の表示サンプル</a:t>
            </a:r>
          </a:p>
        </p:txBody>
      </p:sp>
      <p:sp>
        <p:nvSpPr>
          <p:cNvPr id="14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5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要素別の変換方式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548640" y="1463040"/>
          <a:ext cx="11094415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03"/>
                <a:gridCol w="2773603"/>
                <a:gridCol w="2773603"/>
                <a:gridCol w="2773606"/>
              </a:tblGrid>
              <a:tr h="6400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要素</a:t>
                      </a:r>
                    </a:p>
                  </a:txBody>
                  <a:tcPr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Web化</a:t>
                      </a:r>
                    </a:p>
                  </a:txBody>
                  <a:tcPr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PPTX化</a:t>
                      </a:r>
                    </a:p>
                  </a:txBody>
                  <a:tcPr>
                    <a:solidFill>
                      <a:srgbClr val="082B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</a:rPr>
                        <a:t>方式</a:t>
                      </a:r>
                    </a:p>
                  </a:txBody>
                  <a:tcPr>
                    <a:solidFill>
                      <a:srgbClr val="082B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タイトル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見出しへ変換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テキストボックス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編集可能な文字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本文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段落・箇条書き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テキストボックス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編集可能な文字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画像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img 要素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画像として配置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縦横比を保持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表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table 要素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表オブジェクト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セル単位で編集可能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複雑図解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画像化フォールバック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画像 + 警告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43447"/>
                          </a:solidFill>
                          <a:latin typeface="Arial"/>
                        </a:rPr>
                        <a:t>条件付き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6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画像配置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_wide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6583680" cy="3703320"/>
          </a:xfrm>
          <a:prstGeom prst="rect">
            <a:avLst/>
          </a:prstGeom>
        </p:spPr>
      </p:pic>
      <p:sp>
        <p:nvSpPr>
          <p:cNvPr id="5" name="caption_wide"/>
          <p:cNvSpPr txBox="1"/>
          <p:nvPr/>
        </p:nvSpPr>
        <p:spPr>
          <a:xfrm>
            <a:off x="548640" y="5349240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Arial"/>
              </a:rPr>
              <a:t>図1: 横長の抽象グラデーション（生成画像・サンプル）</a:t>
            </a:r>
          </a:p>
        </p:txBody>
      </p:sp>
      <p:pic>
        <p:nvPicPr>
          <p:cNvPr id="6" name="image_tall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554480"/>
            <a:ext cx="2560320" cy="3840480"/>
          </a:xfrm>
          <a:prstGeom prst="rect">
            <a:avLst/>
          </a:prstGeom>
        </p:spPr>
      </p:pic>
      <p:sp>
        <p:nvSpPr>
          <p:cNvPr id="7" name="image_description"/>
          <p:cNvSpPr txBox="1"/>
          <p:nvPr/>
        </p:nvSpPr>
        <p:spPr>
          <a:xfrm>
            <a:off x="10332720" y="1554480"/>
            <a:ext cx="14630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243447"/>
                </a:solidFill>
                <a:latin typeface="Arial"/>
              </a:rPr>
              <a:t>縦長の幾何学模様。縦横比を保持したまま配置されることを確認する。</a:t>
            </a:r>
          </a:p>
        </p:txBody>
      </p:sp>
      <p:sp>
        <p:nvSpPr>
          <p:cNvPr id="8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9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複合レイアウト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ard_a"/>
          <p:cNvSpPr/>
          <p:nvPr/>
        </p:nvSpPr>
        <p:spPr>
          <a:xfrm>
            <a:off x="548640" y="1371600"/>
            <a:ext cx="5394960" cy="182880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ard_a_title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上段カード A</a:t>
            </a:r>
          </a:p>
        </p:txBody>
      </p:sp>
      <p:sp>
        <p:nvSpPr>
          <p:cNvPr id="6" name="card_a_body"/>
          <p:cNvSpPr txBox="1"/>
          <p:nvPr/>
        </p:nvSpPr>
        <p:spPr>
          <a:xfrm>
            <a:off x="73152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複数領域の整列と余白を確認するためのカード（例示）。</a:t>
            </a:r>
          </a:p>
        </p:txBody>
      </p:sp>
      <p:sp>
        <p:nvSpPr>
          <p:cNvPr id="7" name="card_b"/>
          <p:cNvSpPr/>
          <p:nvPr/>
        </p:nvSpPr>
        <p:spPr>
          <a:xfrm>
            <a:off x="6217920" y="1371600"/>
            <a:ext cx="5394960" cy="182880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card_b_title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上段カード B</a:t>
            </a:r>
          </a:p>
        </p:txBody>
      </p:sp>
      <p:sp>
        <p:nvSpPr>
          <p:cNvPr id="9" name="card_b_body"/>
          <p:cNvSpPr txBox="1"/>
          <p:nvPr/>
        </p:nvSpPr>
        <p:spPr>
          <a:xfrm>
            <a:off x="6400800" y="205740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箇条書きを含むカード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243447"/>
                </a:solidFill>
                <a:latin typeface="Arial"/>
              </a:rPr>
              <a:t>• 折返しと行間の確認</a:t>
            </a:r>
          </a:p>
        </p:txBody>
      </p:sp>
      <p:cxnSp>
        <p:nvCxnSpPr>
          <p:cNvPr id="10" name="timeline_axis"/>
          <p:cNvCxnSpPr/>
          <p:nvPr/>
        </p:nvCxnSpPr>
        <p:spPr>
          <a:xfrm>
            <a:off x="914400" y="4572000"/>
            <a:ext cx="10362895" cy="0"/>
          </a:xfrm>
          <a:prstGeom prst="line">
            <a:avLst/>
          </a:prstGeom>
          <a:ln w="38100">
            <a:solidFill>
              <a:srgbClr val="C5D3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milestone_1"/>
          <p:cNvSpPr/>
          <p:nvPr/>
        </p:nvSpPr>
        <p:spPr>
          <a:xfrm>
            <a:off x="749808" y="4407408"/>
            <a:ext cx="329184" cy="329184"/>
          </a:xfrm>
          <a:prstGeom prst="ellipse">
            <a:avLst/>
          </a:prstGeom>
          <a:solidFill>
            <a:srgbClr val="00A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milestone_label_1"/>
          <p:cNvSpPr txBox="1"/>
          <p:nvPr/>
        </p:nvSpPr>
        <p:spPr>
          <a:xfrm>
            <a:off x="182879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Arial"/>
              </a:rPr>
              <a:t>1. 準備</a:t>
            </a:r>
          </a:p>
        </p:txBody>
      </p:sp>
      <p:sp>
        <p:nvSpPr>
          <p:cNvPr id="13" name="milestone_2"/>
          <p:cNvSpPr/>
          <p:nvPr/>
        </p:nvSpPr>
        <p:spPr>
          <a:xfrm>
            <a:off x="3340531" y="4407408"/>
            <a:ext cx="329184" cy="329184"/>
          </a:xfrm>
          <a:prstGeom prst="ellipse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ilestone_label_2"/>
          <p:cNvSpPr txBox="1"/>
          <p:nvPr/>
        </p:nvSpPr>
        <p:spPr>
          <a:xfrm>
            <a:off x="2773603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Arial"/>
              </a:rPr>
              <a:t>2. 変換</a:t>
            </a:r>
          </a:p>
        </p:txBody>
      </p:sp>
      <p:sp>
        <p:nvSpPr>
          <p:cNvPr id="15" name="milestone_3"/>
          <p:cNvSpPr/>
          <p:nvPr/>
        </p:nvSpPr>
        <p:spPr>
          <a:xfrm>
            <a:off x="5931255" y="4407408"/>
            <a:ext cx="329184" cy="329184"/>
          </a:xfrm>
          <a:prstGeom prst="ellipse">
            <a:avLst/>
          </a:prstGeom>
          <a:solidFill>
            <a:srgbClr val="00A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milestone_label_3"/>
          <p:cNvSpPr txBox="1"/>
          <p:nvPr/>
        </p:nvSpPr>
        <p:spPr>
          <a:xfrm>
            <a:off x="5364327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Arial"/>
              </a:rPr>
              <a:t>3. 検査</a:t>
            </a:r>
          </a:p>
        </p:txBody>
      </p:sp>
      <p:sp>
        <p:nvSpPr>
          <p:cNvPr id="17" name="milestone_4"/>
          <p:cNvSpPr/>
          <p:nvPr/>
        </p:nvSpPr>
        <p:spPr>
          <a:xfrm>
            <a:off x="8521979" y="4407408"/>
            <a:ext cx="329184" cy="329184"/>
          </a:xfrm>
          <a:prstGeom prst="ellipse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ilestone_label_4"/>
          <p:cNvSpPr txBox="1"/>
          <p:nvPr/>
        </p:nvSpPr>
        <p:spPr>
          <a:xfrm>
            <a:off x="7955051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Arial"/>
              </a:rPr>
              <a:t>4. 修正</a:t>
            </a:r>
          </a:p>
        </p:txBody>
      </p:sp>
      <p:sp>
        <p:nvSpPr>
          <p:cNvPr id="19" name="milestone_5"/>
          <p:cNvSpPr/>
          <p:nvPr/>
        </p:nvSpPr>
        <p:spPr>
          <a:xfrm>
            <a:off x="11112703" y="4407408"/>
            <a:ext cx="329184" cy="329184"/>
          </a:xfrm>
          <a:prstGeom prst="ellipse">
            <a:avLst/>
          </a:prstGeom>
          <a:solidFill>
            <a:srgbClr val="00A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milestone_label_5"/>
          <p:cNvSpPr txBox="1"/>
          <p:nvPr/>
        </p:nvSpPr>
        <p:spPr>
          <a:xfrm>
            <a:off x="10545775" y="484632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243447"/>
                </a:solidFill>
                <a:latin typeface="Arial"/>
              </a:rPr>
              <a:t>5. 公開</a:t>
            </a:r>
          </a:p>
        </p:txBody>
      </p:sp>
      <p:sp>
        <p:nvSpPr>
          <p:cNvPr id="21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22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長文・オーバーフロー試験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column_1"/>
          <p:cNvSpPr txBox="1"/>
          <p:nvPr/>
        </p:nvSpPr>
        <p:spPr>
          <a:xfrm>
            <a:off x="548640" y="137160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この段落は文字切れとオーバーフロー検査のための架空の説明文です。共通の中間形式を用いることで、スライド資料と Web 図解の間で見出し、本文、箇条書き、表、画像といった要素を対応付け、どちらの形式からでも同じ内容を再構成できるようにします。変換の各段階では要素の種別と座標、文字サイズを数値として保持し、画像化に頼らずに編集可能な状態を維持します。数値はすべて例示であり、実在の案件や成果を示すものではありません。長文の折返しと段組の扱いを確認するための文章です。見出しと本文の間隔、行間、段落間の余白も同時に確認します。</a:t>
            </a:r>
          </a:p>
        </p:txBody>
      </p:sp>
      <p:sp>
        <p:nvSpPr>
          <p:cNvPr id="5" name="column_2"/>
          <p:cNvSpPr txBox="1"/>
          <p:nvPr/>
        </p:nvSpPr>
        <p:spPr>
          <a:xfrm>
            <a:off x="6217920" y="1371600"/>
            <a:ext cx="53949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二段目の本文も同じく架空の説明です。未対応の要素が含まれる場合でも変換を停止せず、警告として記録し、代替の表現へ置き換えることで、閲覧者が欠落に気づける状態を保ちます。文字が領域を超える場合は縮小または分割の規則を適用し、結果を検査項目として記録します。ここで述べる仕組みや効果はサンプル用の記述であり、特定の組織や製品を指すものではありません。段組の両側が同程度の分量になるよう調整しています。検査では推定行数と枠の高さを比較し、超過があれば記録します。フッターとページ番号が本文と重ならないことも併せて確認します。</a:t>
            </a:r>
          </a:p>
        </p:txBody>
      </p:sp>
      <p:sp>
        <p:nvSpPr>
          <p:cNvPr id="6" name="warning_box"/>
          <p:cNvSpPr/>
          <p:nvPr/>
        </p:nvSpPr>
        <p:spPr>
          <a:xfrm>
            <a:off x="548640" y="5074920"/>
            <a:ext cx="11094415" cy="685800"/>
          </a:xfrm>
          <a:prstGeom prst="rect">
            <a:avLst/>
          </a:prstGeom>
          <a:solidFill>
            <a:srgbClr val="FDEBD8"/>
          </a:solidFill>
          <a:ln w="25400">
            <a:solidFill>
              <a:srgbClr val="F39C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243447"/>
                </a:solidFill>
                <a:latin typeface="Arial"/>
              </a:rPr>
              <a:t>警告: 本文が領域を超える場合は縮小または分割の規則を適用する（サンプル表示）。</a:t>
            </a:r>
          </a:p>
        </p:txBody>
      </p:sp>
      <p:sp>
        <p:nvSpPr>
          <p:cNvPr id="7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8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対象外要素の説明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scope_header_1"/>
          <p:cNvSpPr/>
          <p:nvPr/>
        </p:nvSpPr>
        <p:spPr>
          <a:xfrm>
            <a:off x="548640" y="1463040"/>
            <a:ext cx="3474720" cy="548640"/>
          </a:xfrm>
          <a:prstGeom prst="rect">
            <a:avLst/>
          </a:prstGeom>
          <a:solidFill>
            <a:srgbClr val="17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対応</a:t>
            </a:r>
          </a:p>
        </p:txBody>
      </p:sp>
      <p:sp>
        <p:nvSpPr>
          <p:cNvPr id="5" name="scope_items_1"/>
          <p:cNvSpPr txBox="1"/>
          <p:nvPr/>
        </p:nvSpPr>
        <p:spPr>
          <a:xfrm>
            <a:off x="548640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タイトル・本文・箇条書き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画像・図形・線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表</a:t>
            </a:r>
          </a:p>
        </p:txBody>
      </p:sp>
      <p:sp>
        <p:nvSpPr>
          <p:cNvPr id="6" name="scope_header_2"/>
          <p:cNvSpPr/>
          <p:nvPr/>
        </p:nvSpPr>
        <p:spPr>
          <a:xfrm>
            <a:off x="4297679" y="1463040"/>
            <a:ext cx="3474720" cy="548640"/>
          </a:xfrm>
          <a:prstGeom prst="rect">
            <a:avLst/>
          </a:prstGeom>
          <a:solidFill>
            <a:srgbClr val="F39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条件付き</a:t>
            </a:r>
          </a:p>
        </p:txBody>
      </p:sp>
      <p:sp>
        <p:nvSpPr>
          <p:cNvPr id="7" name="scope_items_2"/>
          <p:cNvSpPr txBox="1"/>
          <p:nvPr/>
        </p:nvSpPr>
        <p:spPr>
          <a:xfrm>
            <a:off x="4297679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グループ図形（2 階層まで）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複雑図解は画像化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SmartArt は文字列のみ</a:t>
            </a:r>
          </a:p>
        </p:txBody>
      </p:sp>
      <p:sp>
        <p:nvSpPr>
          <p:cNvPr id="8" name="scope_header_3"/>
          <p:cNvSpPr/>
          <p:nvPr/>
        </p:nvSpPr>
        <p:spPr>
          <a:xfrm>
            <a:off x="8046719" y="1463040"/>
            <a:ext cx="3474720" cy="548640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対象外</a:t>
            </a:r>
          </a:p>
        </p:txBody>
      </p:sp>
      <p:sp>
        <p:nvSpPr>
          <p:cNvPr id="9" name="scope_items_3"/>
          <p:cNvSpPr txBox="1"/>
          <p:nvPr/>
        </p:nvSpPr>
        <p:spPr>
          <a:xfrm>
            <a:off x="8046719" y="210312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動画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マクロ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3D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243447"/>
                </a:solidFill>
                <a:latin typeface="Arial"/>
              </a:rPr>
              <a:t>• 複雑アニメーション</a:t>
            </a:r>
          </a:p>
        </p:txBody>
      </p:sp>
      <p:sp>
        <p:nvSpPr>
          <p:cNvPr id="10" name="note"/>
          <p:cNvSpPr txBox="1"/>
          <p:nvPr/>
        </p:nvSpPr>
        <p:spPr>
          <a:xfrm>
            <a:off x="548640" y="530352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B6B7C"/>
                </a:solidFill>
                <a:latin typeface="Arial"/>
              </a:rPr>
              <a:t>対象外要素は本資料に含めず、変換時は警告メタデータとして扱う。</a:t>
            </a:r>
          </a:p>
        </p:txBody>
      </p:sp>
      <p:sp>
        <p:nvSpPr>
          <p:cNvPr id="11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2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082B5C"/>
                </a:solidFill>
                <a:latin typeface="Arial"/>
              </a:rPr>
              <a:t>まとめ</a:t>
            </a:r>
          </a:p>
        </p:txBody>
      </p:sp>
      <p:cxnSp>
        <p:nvCxnSpPr>
          <p:cNvPr id="3" name="title_rule"/>
          <p:cNvCxnSpPr/>
          <p:nvPr/>
        </p:nvCxnSpPr>
        <p:spPr>
          <a:xfrm>
            <a:off x="548640" y="1143000"/>
            <a:ext cx="1097279" cy="0"/>
          </a:xfrm>
          <a:prstGeom prst="line">
            <a:avLst/>
          </a:prstGeom>
          <a:ln w="38100">
            <a:solidFill>
              <a:srgbClr val="00A6C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message_1"/>
          <p:cNvSpPr/>
          <p:nvPr/>
        </p:nvSpPr>
        <p:spPr>
          <a:xfrm>
            <a:off x="548640" y="1463040"/>
            <a:ext cx="3474720" cy="237744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message_1_title"/>
          <p:cNvSpPr txBox="1"/>
          <p:nvPr/>
        </p:nvSpPr>
        <p:spPr>
          <a:xfrm>
            <a:off x="731520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共通構造</a:t>
            </a:r>
          </a:p>
        </p:txBody>
      </p:sp>
      <p:sp>
        <p:nvSpPr>
          <p:cNvPr id="6" name="message_1_body"/>
          <p:cNvSpPr txBox="1"/>
          <p:nvPr/>
        </p:nvSpPr>
        <p:spPr>
          <a:xfrm>
            <a:off x="731520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1 つの JSON から両形式を生成する</a:t>
            </a:r>
          </a:p>
        </p:txBody>
      </p:sp>
      <p:sp>
        <p:nvSpPr>
          <p:cNvPr id="7" name="message_2"/>
          <p:cNvSpPr/>
          <p:nvPr/>
        </p:nvSpPr>
        <p:spPr>
          <a:xfrm>
            <a:off x="4297679" y="1463040"/>
            <a:ext cx="3474720" cy="237744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message_2_title"/>
          <p:cNvSpPr txBox="1"/>
          <p:nvPr/>
        </p:nvSpPr>
        <p:spPr>
          <a:xfrm>
            <a:off x="448055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双方向変換</a:t>
            </a:r>
          </a:p>
        </p:txBody>
      </p:sp>
      <p:sp>
        <p:nvSpPr>
          <p:cNvPr id="9" name="message_2_body"/>
          <p:cNvSpPr txBox="1"/>
          <p:nvPr/>
        </p:nvSpPr>
        <p:spPr>
          <a:xfrm>
            <a:off x="4480559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PPTX と Web のどちらからでも往復できる</a:t>
            </a:r>
          </a:p>
        </p:txBody>
      </p:sp>
      <p:sp>
        <p:nvSpPr>
          <p:cNvPr id="10" name="message_3"/>
          <p:cNvSpPr/>
          <p:nvPr/>
        </p:nvSpPr>
        <p:spPr>
          <a:xfrm>
            <a:off x="8046719" y="1463040"/>
            <a:ext cx="3474720" cy="2377440"/>
          </a:xfrm>
          <a:prstGeom prst="roundRect">
            <a:avLst/>
          </a:prstGeom>
          <a:solidFill>
            <a:srgbClr val="EEF4F8"/>
          </a:solidFill>
          <a:ln>
            <a:solidFill>
              <a:srgbClr val="C5D3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message_3_title"/>
          <p:cNvSpPr txBox="1"/>
          <p:nvPr/>
        </p:nvSpPr>
        <p:spPr>
          <a:xfrm>
            <a:off x="8229599" y="164592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261A0"/>
                </a:solidFill>
                <a:latin typeface="Arial"/>
              </a:rPr>
              <a:t>人による確認</a:t>
            </a:r>
          </a:p>
        </p:txBody>
      </p:sp>
      <p:sp>
        <p:nvSpPr>
          <p:cNvPr id="12" name="message_3_body"/>
          <p:cNvSpPr txBox="1"/>
          <p:nvPr/>
        </p:nvSpPr>
        <p:spPr>
          <a:xfrm>
            <a:off x="8229599" y="21488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43447"/>
                </a:solidFill>
                <a:latin typeface="Arial"/>
              </a:rPr>
              <a:t>警告と検査結果を人が最終確認する</a:t>
            </a:r>
          </a:p>
        </p:txBody>
      </p:sp>
      <p:sp>
        <p:nvSpPr>
          <p:cNvPr id="13" name="next_action_label"/>
          <p:cNvSpPr txBox="1"/>
          <p:nvPr/>
        </p:nvSpPr>
        <p:spPr>
          <a:xfrm>
            <a:off x="548640" y="41148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82B5C"/>
                </a:solidFill>
                <a:latin typeface="Arial"/>
              </a:rPr>
              <a:t>次のアクション</a:t>
            </a:r>
          </a:p>
        </p:txBody>
      </p:sp>
      <p:sp>
        <p:nvSpPr>
          <p:cNvPr id="14" name="action_button_1"/>
          <p:cNvSpPr/>
          <p:nvPr/>
        </p:nvSpPr>
        <p:spPr>
          <a:xfrm>
            <a:off x="548640" y="4663440"/>
            <a:ext cx="3474720" cy="6400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サンプルで往復変換</a:t>
            </a:r>
          </a:p>
        </p:txBody>
      </p:sp>
      <p:sp>
        <p:nvSpPr>
          <p:cNvPr id="15" name="action_button_2"/>
          <p:cNvSpPr/>
          <p:nvPr/>
        </p:nvSpPr>
        <p:spPr>
          <a:xfrm>
            <a:off x="4297679" y="4663440"/>
            <a:ext cx="3474720" cy="6400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検査結果を確認</a:t>
            </a:r>
          </a:p>
        </p:txBody>
      </p:sp>
      <p:sp>
        <p:nvSpPr>
          <p:cNvPr id="16" name="action_button_3"/>
          <p:cNvSpPr/>
          <p:nvPr/>
        </p:nvSpPr>
        <p:spPr>
          <a:xfrm>
            <a:off x="8046719" y="4663440"/>
            <a:ext cx="3474720" cy="640080"/>
          </a:xfrm>
          <a:prstGeom prst="roundRect">
            <a:avLst/>
          </a:prstGeom>
          <a:solidFill>
            <a:srgbClr val="1261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テンプレートを適用</a:t>
            </a:r>
          </a:p>
        </p:txBody>
      </p:sp>
      <p:sp>
        <p:nvSpPr>
          <p:cNvPr id="17" name="footer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B6B7C"/>
                </a:solidFill>
                <a:latin typeface="Arial"/>
              </a:rPr>
              <a:t>Anonymous Conversion Test / Sample Only</a:t>
            </a:r>
          </a:p>
        </p:txBody>
      </p:sp>
      <p:sp>
        <p:nvSpPr>
          <p:cNvPr id="18" name="page_number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PowerPoint・Web図解 双方向変換デモ</dc:title>
  <dc:subject>Sample Only</dc:subject>
  <dc:creator>Anonymous Test Generator</dc:creator>
  <cp:keywords/>
  <dc:description/>
  <cp:lastModifiedBy>Anonymous Test Generator</cp:lastModifiedBy>
  <cp:revision>1</cp:revision>
  <dcterms:created xsi:type="dcterms:W3CDTF">2013-01-27T09:14:16Z</dcterms:created>
  <dcterms:modified xsi:type="dcterms:W3CDTF">2013-01-27T09:15:58Z</dcterms:modified>
  <cp:category/>
</cp:coreProperties>
</file>